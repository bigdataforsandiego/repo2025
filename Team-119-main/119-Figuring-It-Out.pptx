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Fraunces"/>
      <p:regular r:id="rId16"/>
      <p:bold r:id="rId17"/>
      <p:italic r:id="rId18"/>
      <p:boldItalic r:id="rId19"/>
    </p:embeddedFont>
    <p:embeddedFont>
      <p:font typeface="Playfair Display"/>
      <p:regular r:id="rId20"/>
      <p:bold r:id="rId21"/>
      <p:italic r:id="rId22"/>
      <p:boldItalic r:id="rId23"/>
    </p:embeddedFont>
    <p:embeddedFont>
      <p:font typeface="Ysabeau Infant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Fraunces Medium"/>
      <p:regular r:id="rId32"/>
      <p:bold r:id="rId33"/>
      <p:italic r:id="rId34"/>
      <p:boldItalic r:id="rId35"/>
    </p:embeddedFont>
    <p:embeddedFont>
      <p:font typeface="Fraunces SemiBold"/>
      <p:regular r:id="rId36"/>
      <p:bold r:id="rId37"/>
      <p:italic r:id="rId38"/>
      <p:boldItalic r:id="rId39"/>
    </p:embeddedFont>
    <p:embeddedFont>
      <p:font typeface="Fraunces Light"/>
      <p:regular r:id="rId40"/>
      <p:bold r:id="rId41"/>
      <p:italic r:id="rId42"/>
      <p:boldItalic r:id="rId43"/>
    </p:embeddedFont>
    <p:embeddedFont>
      <p:font typeface="Ysabeau Infant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rauncesLight-regular.fntdata"/><Relationship Id="rId20" Type="http://schemas.openxmlformats.org/officeDocument/2006/relationships/font" Target="fonts/PlayfairDisplay-regular.fntdata"/><Relationship Id="rId42" Type="http://schemas.openxmlformats.org/officeDocument/2006/relationships/font" Target="fonts/FrauncesLight-italic.fntdata"/><Relationship Id="rId41" Type="http://schemas.openxmlformats.org/officeDocument/2006/relationships/font" Target="fonts/FrauncesLight-bold.fntdata"/><Relationship Id="rId22" Type="http://schemas.openxmlformats.org/officeDocument/2006/relationships/font" Target="fonts/PlayfairDisplay-italic.fntdata"/><Relationship Id="rId44" Type="http://schemas.openxmlformats.org/officeDocument/2006/relationships/font" Target="fonts/YsabeauInfantMedium-regular.fntdata"/><Relationship Id="rId21" Type="http://schemas.openxmlformats.org/officeDocument/2006/relationships/font" Target="fonts/PlayfairDisplay-bold.fntdata"/><Relationship Id="rId43" Type="http://schemas.openxmlformats.org/officeDocument/2006/relationships/font" Target="fonts/FrauncesLight-boldItalic.fntdata"/><Relationship Id="rId24" Type="http://schemas.openxmlformats.org/officeDocument/2006/relationships/font" Target="fonts/YsabeauInfant-regular.fntdata"/><Relationship Id="rId46" Type="http://schemas.openxmlformats.org/officeDocument/2006/relationships/font" Target="fonts/YsabeauInfantMedium-italic.fntdata"/><Relationship Id="rId23" Type="http://schemas.openxmlformats.org/officeDocument/2006/relationships/font" Target="fonts/PlayfairDisplay-boldItalic.fntdata"/><Relationship Id="rId45" Type="http://schemas.openxmlformats.org/officeDocument/2006/relationships/font" Target="fonts/YsabeauInfan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YsabeauInfant-italic.fntdata"/><Relationship Id="rId25" Type="http://schemas.openxmlformats.org/officeDocument/2006/relationships/font" Target="fonts/YsabeauInfant-bold.fntdata"/><Relationship Id="rId47" Type="http://schemas.openxmlformats.org/officeDocument/2006/relationships/font" Target="fonts/YsabeauInfantMedium-boldItalic.fntdata"/><Relationship Id="rId28" Type="http://schemas.openxmlformats.org/officeDocument/2006/relationships/font" Target="fonts/Lato-regular.fntdata"/><Relationship Id="rId27" Type="http://schemas.openxmlformats.org/officeDocument/2006/relationships/font" Target="fonts/YsabeauInfan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33" Type="http://schemas.openxmlformats.org/officeDocument/2006/relationships/font" Target="fonts/FrauncesMedium-bold.fntdata"/><Relationship Id="rId10" Type="http://schemas.openxmlformats.org/officeDocument/2006/relationships/slide" Target="slides/slide5.xml"/><Relationship Id="rId32" Type="http://schemas.openxmlformats.org/officeDocument/2006/relationships/font" Target="fonts/FrauncesMedium-regular.fntdata"/><Relationship Id="rId13" Type="http://schemas.openxmlformats.org/officeDocument/2006/relationships/slide" Target="slides/slide8.xml"/><Relationship Id="rId35" Type="http://schemas.openxmlformats.org/officeDocument/2006/relationships/font" Target="fonts/Fraunces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FrauncesMedium-italic.fntdata"/><Relationship Id="rId15" Type="http://schemas.openxmlformats.org/officeDocument/2006/relationships/slide" Target="slides/slide10.xml"/><Relationship Id="rId37" Type="http://schemas.openxmlformats.org/officeDocument/2006/relationships/font" Target="fonts/FrauncesSemiBold-bold.fntdata"/><Relationship Id="rId14" Type="http://schemas.openxmlformats.org/officeDocument/2006/relationships/slide" Target="slides/slide9.xml"/><Relationship Id="rId36" Type="http://schemas.openxmlformats.org/officeDocument/2006/relationships/font" Target="fonts/FrauncesSemiBold-regular.fntdata"/><Relationship Id="rId17" Type="http://schemas.openxmlformats.org/officeDocument/2006/relationships/font" Target="fonts/Fraunces-bold.fntdata"/><Relationship Id="rId39" Type="http://schemas.openxmlformats.org/officeDocument/2006/relationships/font" Target="fonts/FrauncesSemiBold-boldItalic.fntdata"/><Relationship Id="rId16" Type="http://schemas.openxmlformats.org/officeDocument/2006/relationships/font" Target="fonts/Fraunces-regular.fntdata"/><Relationship Id="rId38" Type="http://schemas.openxmlformats.org/officeDocument/2006/relationships/font" Target="fonts/FrauncesSemiBold-italic.fntdata"/><Relationship Id="rId19" Type="http://schemas.openxmlformats.org/officeDocument/2006/relationships/font" Target="fonts/Fraunces-boldItalic.fntdata"/><Relationship Id="rId18" Type="http://schemas.openxmlformats.org/officeDocument/2006/relationships/font" Target="fonts/Fraunce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39b84e2b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39b84e2b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39b84e2b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39b84e2b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39b84e2b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39b84e2b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39b84e2b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39b84e2b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39b84e2b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39b84e2b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39b84e2bd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39b84e2b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39b84e2b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39b84e2b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39b84e2bd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39b84e2b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39b84e2b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39b84e2b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Ysabeau Infant"/>
              <a:buNone/>
              <a:defRPr>
                <a:solidFill>
                  <a:schemeClr val="lt1"/>
                </a:solidFill>
                <a:latin typeface="Ysabeau Infant"/>
                <a:ea typeface="Ysabeau Infant"/>
                <a:cs typeface="Ysabeau Infant"/>
                <a:sym typeface="Ysabeau Infan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Ysabeau Infant"/>
              <a:buNone/>
              <a:defRPr>
                <a:solidFill>
                  <a:schemeClr val="lt1"/>
                </a:solidFill>
                <a:latin typeface="Ysabeau Infant"/>
                <a:ea typeface="Ysabeau Infant"/>
                <a:cs typeface="Ysabeau Infant"/>
                <a:sym typeface="Ysabeau Infan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Ysabeau Infant"/>
              <a:buNone/>
              <a:defRPr>
                <a:solidFill>
                  <a:schemeClr val="lt1"/>
                </a:solidFill>
                <a:latin typeface="Ysabeau Infant"/>
                <a:ea typeface="Ysabeau Infant"/>
                <a:cs typeface="Ysabeau Infant"/>
                <a:sym typeface="Ysabeau Infan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Ysabeau Infant"/>
              <a:buNone/>
              <a:defRPr>
                <a:solidFill>
                  <a:schemeClr val="lt1"/>
                </a:solidFill>
                <a:latin typeface="Ysabeau Infant"/>
                <a:ea typeface="Ysabeau Infant"/>
                <a:cs typeface="Ysabeau Infant"/>
                <a:sym typeface="Ysabeau Infan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Ysabeau Infant"/>
              <a:buNone/>
              <a:defRPr>
                <a:solidFill>
                  <a:schemeClr val="lt1"/>
                </a:solidFill>
                <a:latin typeface="Ysabeau Infant"/>
                <a:ea typeface="Ysabeau Infant"/>
                <a:cs typeface="Ysabeau Infant"/>
                <a:sym typeface="Ysabeau Infan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Ysabeau Infant"/>
              <a:buNone/>
              <a:defRPr>
                <a:solidFill>
                  <a:schemeClr val="lt1"/>
                </a:solidFill>
                <a:latin typeface="Ysabeau Infant"/>
                <a:ea typeface="Ysabeau Infant"/>
                <a:cs typeface="Ysabeau Infant"/>
                <a:sym typeface="Ysabeau Infan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Ysabeau Infant"/>
              <a:buNone/>
              <a:defRPr>
                <a:solidFill>
                  <a:schemeClr val="lt1"/>
                </a:solidFill>
                <a:latin typeface="Ysabeau Infant"/>
                <a:ea typeface="Ysabeau Infant"/>
                <a:cs typeface="Ysabeau Infant"/>
                <a:sym typeface="Ysabeau Infan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Ysabeau Infant"/>
              <a:buNone/>
              <a:defRPr>
                <a:solidFill>
                  <a:schemeClr val="lt1"/>
                </a:solidFill>
                <a:latin typeface="Ysabeau Infant"/>
                <a:ea typeface="Ysabeau Infant"/>
                <a:cs typeface="Ysabeau Infant"/>
                <a:sym typeface="Ysabeau Infan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Ysabeau Infant"/>
              <a:buNone/>
              <a:defRPr>
                <a:solidFill>
                  <a:schemeClr val="lt1"/>
                </a:solidFill>
                <a:latin typeface="Ysabeau Infant"/>
                <a:ea typeface="Ysabeau Infant"/>
                <a:cs typeface="Ysabeau Infant"/>
                <a:sym typeface="Ysabeau Infan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Ysabeau Infant"/>
              <a:buNone/>
              <a:defRPr sz="4800">
                <a:solidFill>
                  <a:schemeClr val="lt1"/>
                </a:solidFill>
                <a:latin typeface="Ysabeau Infant"/>
                <a:ea typeface="Ysabeau Infant"/>
                <a:cs typeface="Ysabeau Infant"/>
                <a:sym typeface="Ysabeau Infan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Fraunces SemiBold"/>
              <a:buChar char="●"/>
              <a:defRPr sz="2000">
                <a:solidFill>
                  <a:srgbClr val="000000"/>
                </a:solidFill>
                <a:latin typeface="Fraunces SemiBold"/>
                <a:ea typeface="Fraunces SemiBold"/>
                <a:cs typeface="Fraunces SemiBold"/>
                <a:sym typeface="Fraunces SemiBold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Fraunces SemiBold"/>
              <a:buChar char="○"/>
              <a:defRPr sz="2000">
                <a:solidFill>
                  <a:srgbClr val="000000"/>
                </a:solidFill>
                <a:latin typeface="Fraunces SemiBold"/>
                <a:ea typeface="Fraunces SemiBold"/>
                <a:cs typeface="Fraunces SemiBold"/>
                <a:sym typeface="Fraunces SemiBold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Fraunces SemiBold"/>
              <a:buChar char="■"/>
              <a:defRPr sz="2000">
                <a:solidFill>
                  <a:srgbClr val="000000"/>
                </a:solidFill>
                <a:latin typeface="Fraunces SemiBold"/>
                <a:ea typeface="Fraunces SemiBold"/>
                <a:cs typeface="Fraunces SemiBold"/>
                <a:sym typeface="Fraunces SemiBold"/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Fraunces SemiBold"/>
              <a:buChar char="●"/>
              <a:defRPr sz="2000">
                <a:solidFill>
                  <a:srgbClr val="000000"/>
                </a:solidFill>
                <a:latin typeface="Fraunces SemiBold"/>
                <a:ea typeface="Fraunces SemiBold"/>
                <a:cs typeface="Fraunces SemiBold"/>
                <a:sym typeface="Fraunces SemiBold"/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Fraunces SemiBold"/>
              <a:buChar char="○"/>
              <a:defRPr sz="2000">
                <a:solidFill>
                  <a:srgbClr val="000000"/>
                </a:solidFill>
                <a:latin typeface="Fraunces SemiBold"/>
                <a:ea typeface="Fraunces SemiBold"/>
                <a:cs typeface="Fraunces SemiBold"/>
                <a:sym typeface="Fraunces SemiBold"/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Fraunces SemiBold"/>
              <a:buChar char="■"/>
              <a:defRPr sz="2000">
                <a:solidFill>
                  <a:srgbClr val="000000"/>
                </a:solidFill>
                <a:latin typeface="Fraunces SemiBold"/>
                <a:ea typeface="Fraunces SemiBold"/>
                <a:cs typeface="Fraunces SemiBold"/>
                <a:sym typeface="Fraunces SemiBold"/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Fraunces SemiBold"/>
              <a:buChar char="●"/>
              <a:defRPr sz="2000">
                <a:solidFill>
                  <a:srgbClr val="000000"/>
                </a:solidFill>
                <a:latin typeface="Fraunces SemiBold"/>
                <a:ea typeface="Fraunces SemiBold"/>
                <a:cs typeface="Fraunces SemiBold"/>
                <a:sym typeface="Fraunces SemiBold"/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Fraunces SemiBold"/>
              <a:buChar char="○"/>
              <a:defRPr sz="2000">
                <a:solidFill>
                  <a:srgbClr val="000000"/>
                </a:solidFill>
                <a:latin typeface="Fraunces SemiBold"/>
                <a:ea typeface="Fraunces SemiBold"/>
                <a:cs typeface="Fraunces SemiBold"/>
                <a:sym typeface="Fraunces SemiBold"/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Fraunces SemiBold"/>
              <a:buChar char="■"/>
              <a:defRPr sz="2000">
                <a:solidFill>
                  <a:srgbClr val="000000"/>
                </a:solidFill>
                <a:latin typeface="Fraunces SemiBold"/>
                <a:ea typeface="Fraunces SemiBold"/>
                <a:cs typeface="Fraunces SemiBold"/>
                <a:sym typeface="Fraunces SemiBold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●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○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■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●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○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■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●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○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■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●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○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■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●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○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■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●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○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raunces Medium"/>
              <a:buChar char="■"/>
              <a:defRPr sz="3200">
                <a:solidFill>
                  <a:srgbClr val="000000"/>
                </a:solidFill>
                <a:latin typeface="Fraunces Medium"/>
                <a:ea typeface="Fraunces Medium"/>
                <a:cs typeface="Fraunces Medium"/>
                <a:sym typeface="Fraunces Medium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bbc.com/news/world-us-canada-63895493" TargetMode="External"/><Relationship Id="rId4" Type="http://schemas.openxmlformats.org/officeDocument/2006/relationships/hyperlink" Target="http://dx.doi.org/10.32598/bcn.2021.724.9" TargetMode="External"/><Relationship Id="rId5" Type="http://schemas.openxmlformats.org/officeDocument/2006/relationships/hyperlink" Target="https://dx.doi.org/10.12659/MSMBR.909022" TargetMode="External"/><Relationship Id="rId6" Type="http://schemas.openxmlformats.org/officeDocument/2006/relationships/hyperlink" Target="https://www.bbc.com/news/world-us-canada-6389549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Figuring It Out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Ysabeau Infant Medium"/>
                <a:ea typeface="Ysabeau Infant Medium"/>
                <a:cs typeface="Ysabeau Infant Medium"/>
                <a:sym typeface="Ysabeau Infant Medium"/>
              </a:rPr>
              <a:t>Kian Agheli</a:t>
            </a:r>
            <a:endParaRPr b="0">
              <a:latin typeface="Ysabeau Infant Medium"/>
              <a:ea typeface="Ysabeau Infant Medium"/>
              <a:cs typeface="Ysabeau Infant Medium"/>
              <a:sym typeface="Ysabeau Infan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Declaring Scope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755100" y="990300"/>
            <a:ext cx="8520600" cy="43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Font typeface="Fraunces Medium"/>
              <a:buChar char="●"/>
            </a:pPr>
            <a:r>
              <a:rPr lang="en" sz="4200">
                <a:latin typeface="Fraunces Medium"/>
                <a:ea typeface="Fraunces Medium"/>
                <a:cs typeface="Fraunces Medium"/>
                <a:sym typeface="Fraunces Medium"/>
              </a:rPr>
              <a:t>“I’m okay, now what?”</a:t>
            </a:r>
            <a:endParaRPr sz="4200">
              <a:latin typeface="Fraunces Medium"/>
              <a:ea typeface="Fraunces Medium"/>
              <a:cs typeface="Fraunces Medium"/>
              <a:sym typeface="Fraunces Medium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200">
              <a:latin typeface="Fraunces Medium"/>
              <a:ea typeface="Fraunces Medium"/>
              <a:cs typeface="Fraunces Medium"/>
              <a:sym typeface="Fraunces Medium"/>
            </a:endParaRPr>
          </a:p>
          <a:p>
            <a:pPr indent="-495300" lvl="0" marL="457200" rtl="0" algn="l">
              <a:spcBef>
                <a:spcPts val="1200"/>
              </a:spcBef>
              <a:spcAft>
                <a:spcPts val="0"/>
              </a:spcAft>
              <a:buSzPts val="4200"/>
              <a:buFont typeface="Fraunces Medium"/>
              <a:buChar char="●"/>
            </a:pPr>
            <a:r>
              <a:rPr lang="en" sz="4200">
                <a:latin typeface="Fraunces Medium"/>
                <a:ea typeface="Fraunces Medium"/>
                <a:cs typeface="Fraunces Medium"/>
                <a:sym typeface="Fraunces Medium"/>
              </a:rPr>
              <a:t>“I’m ready to </a:t>
            </a:r>
            <a:r>
              <a:rPr lang="en" sz="4200">
                <a:latin typeface="Fraunces Medium"/>
                <a:ea typeface="Fraunces Medium"/>
                <a:cs typeface="Fraunces Medium"/>
                <a:sym typeface="Fraunces Medium"/>
              </a:rPr>
              <a:t>take</a:t>
            </a:r>
            <a:r>
              <a:rPr lang="en" sz="4200">
                <a:latin typeface="Fraunces Medium"/>
                <a:ea typeface="Fraunces Medium"/>
                <a:cs typeface="Fraunces Medium"/>
                <a:sym typeface="Fraunces Medium"/>
              </a:rPr>
              <a:t> next steps.”</a:t>
            </a:r>
            <a:endParaRPr sz="4200">
              <a:latin typeface="Fraunces Medium"/>
              <a:ea typeface="Fraunces Medium"/>
              <a:cs typeface="Fraunces Medium"/>
              <a:sym typeface="Fraunce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Outlining Theory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208200" y="1917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Studies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Fraunces"/>
                <a:ea typeface="Fraunces"/>
                <a:cs typeface="Fraunces"/>
                <a:sym typeface="Fraunces"/>
              </a:rPr>
              <a:t>  </a:t>
            </a:r>
            <a:r>
              <a:rPr lang="en"/>
              <a:t>Positive Stress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5025875" y="1917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Culture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Wordle</a:t>
            </a:r>
            <a:endParaRPr/>
          </a:p>
        </p:txBody>
      </p:sp>
      <p:pic>
        <p:nvPicPr>
          <p:cNvPr id="82" name="Google Shape;82;p17" title="atten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00" y="1677547"/>
            <a:ext cx="4962676" cy="24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7725" y="1455550"/>
            <a:ext cx="3940225" cy="330337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332575" y="4542075"/>
            <a:ext cx="3643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Image from [2]. See also [3].</a:t>
            </a:r>
            <a:endParaRPr sz="1800">
              <a:solidFill>
                <a:schemeClr val="dk2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177350" y="3746775"/>
            <a:ext cx="4962600" cy="4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1692325" y="3899175"/>
            <a:ext cx="3600000" cy="4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5292325" y="4357275"/>
            <a:ext cx="3600000" cy="4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5535175" y="4490175"/>
            <a:ext cx="3273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Image from [4].</a:t>
            </a:r>
            <a:endParaRPr sz="1800">
              <a:solidFill>
                <a:schemeClr val="dk2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7762050" y="2189275"/>
            <a:ext cx="1335900" cy="4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Applying Reality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63425" y="478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Consistency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Integration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Community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00" name="Google Shape;100;p19"/>
          <p:cNvSpPr txBox="1"/>
          <p:nvPr>
            <p:ph idx="2" type="body"/>
          </p:nvPr>
        </p:nvSpPr>
        <p:spPr>
          <a:xfrm>
            <a:off x="4780675" y="478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Information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Recognition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Understanding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7250" y="2431775"/>
            <a:ext cx="2362225" cy="261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Conceptualizing Viability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553875" y="319012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20"/>
              <a:t>l</a:t>
            </a:r>
            <a:r>
              <a:rPr lang="en" sz="3520"/>
              <a:t>ive @ </a:t>
            </a:r>
            <a:r>
              <a:rPr lang="en" sz="3520"/>
              <a:t>mesacsclub.com/kaa/figuring</a:t>
            </a:r>
            <a:endParaRPr sz="3520"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277" y="469875"/>
            <a:ext cx="6620425" cy="326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 O R K S   </a:t>
            </a:r>
            <a:r>
              <a:rPr lang="en"/>
              <a:t>C I T E D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Drenon, Brandon. (2022).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https://www.bbc.com/news/world-us-canada-63895493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[2] </a:t>
            </a:r>
            <a:r>
              <a:rPr lang="en"/>
              <a:t>Aliyari, H., Sahraei, H., Golabi, S., Kazemi, M., Daliri, M. R., &amp; Minaei-Bidgoli, B. (2021). The Effect of Brain Teaser Games on the Attention of Players Based on Hormonal and Brain Signals Changes. Basic and Clinical Neuroscience, 12(5), 587-596.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http://dx.doi.org/10.32598/bcn.2021.724.9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[3] Al-Thaqib, A., Al-Sultan, F., Al-Zahrani, A., Al-Kahtani, F., Al-Regaiey, K., Iqbal, M., Bashir, S. (2018). Brain Training Games Enhance Cognitive Function in Healthy Subjects. Medical Science Monitor Basic Research, 24, 63-69.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https://dx.doi.org/10.12659/MSMBR.909022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[4] Drenon, B. (2022, December 7). Wordle: The most Googled word globally and in the US in 2022.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https://www.bbc.com/news/world-us-canada-63895493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